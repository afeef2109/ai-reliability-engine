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6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eef M" userId="80bfc995f66ca10e" providerId="LiveId" clId="{2350AF49-A678-4AFA-9A6B-9BA2F7EDBF13}"/>
    <pc:docChg chg="modSld">
      <pc:chgData name="Afeef M" userId="80bfc995f66ca10e" providerId="LiveId" clId="{2350AF49-A678-4AFA-9A6B-9BA2F7EDBF13}" dt="2026-04-04T06:09:55.160" v="17" actId="14100"/>
      <pc:docMkLst>
        <pc:docMk/>
      </pc:docMkLst>
      <pc:sldChg chg="modSp mod">
        <pc:chgData name="Afeef M" userId="80bfc995f66ca10e" providerId="LiveId" clId="{2350AF49-A678-4AFA-9A6B-9BA2F7EDBF13}" dt="2026-04-04T06:08:24.210" v="11" actId="14100"/>
        <pc:sldMkLst>
          <pc:docMk/>
          <pc:sldMk cId="0" sldId="260"/>
        </pc:sldMkLst>
        <pc:picChg chg="mod">
          <ac:chgData name="Afeef M" userId="80bfc995f66ca10e" providerId="LiveId" clId="{2350AF49-A678-4AFA-9A6B-9BA2F7EDBF13}" dt="2026-04-04T06:08:24.210" v="11" actId="14100"/>
          <ac:picMkLst>
            <pc:docMk/>
            <pc:sldMk cId="0" sldId="260"/>
            <ac:picMk id="35" creationId="{00000000-0000-0000-0000-000000000000}"/>
          </ac:picMkLst>
        </pc:picChg>
      </pc:sldChg>
      <pc:sldChg chg="modSp mod">
        <pc:chgData name="Afeef M" userId="80bfc995f66ca10e" providerId="LiveId" clId="{2350AF49-A678-4AFA-9A6B-9BA2F7EDBF13}" dt="2026-04-04T06:09:55.160" v="17" actId="14100"/>
        <pc:sldMkLst>
          <pc:docMk/>
          <pc:sldMk cId="0" sldId="261"/>
        </pc:sldMkLst>
        <pc:spChg chg="mod">
          <ac:chgData name="Afeef M" userId="80bfc995f66ca10e" providerId="LiveId" clId="{2350AF49-A678-4AFA-9A6B-9BA2F7EDBF13}" dt="2026-04-04T06:09:55.160" v="17" actId="14100"/>
          <ac:spMkLst>
            <pc:docMk/>
            <pc:sldMk cId="0" sldId="261"/>
            <ac:spMk id="34" creationId="{00000000-0000-0000-0000-000000000000}"/>
          </ac:spMkLst>
        </pc:spChg>
      </pc:sldChg>
      <pc:sldChg chg="modSp mod">
        <pc:chgData name="Afeef M" userId="80bfc995f66ca10e" providerId="LiveId" clId="{2350AF49-A678-4AFA-9A6B-9BA2F7EDBF13}" dt="2026-04-04T06:09:46.410" v="16" actId="14100"/>
        <pc:sldMkLst>
          <pc:docMk/>
          <pc:sldMk cId="0" sldId="262"/>
        </pc:sldMkLst>
        <pc:spChg chg="mod">
          <ac:chgData name="Afeef M" userId="80bfc995f66ca10e" providerId="LiveId" clId="{2350AF49-A678-4AFA-9A6B-9BA2F7EDBF13}" dt="2026-04-04T06:09:46.410" v="16" actId="14100"/>
          <ac:spMkLst>
            <pc:docMk/>
            <pc:sldMk cId="0" sldId="262"/>
            <ac:spMk id="43" creationId="{00000000-0000-0000-0000-000000000000}"/>
          </ac:spMkLst>
        </pc:spChg>
      </pc:sldChg>
      <pc:sldChg chg="modSp mod">
        <pc:chgData name="Afeef M" userId="80bfc995f66ca10e" providerId="LiveId" clId="{2350AF49-A678-4AFA-9A6B-9BA2F7EDBF13}" dt="2026-04-04T06:09:31.609" v="14" actId="14100"/>
        <pc:sldMkLst>
          <pc:docMk/>
          <pc:sldMk cId="0" sldId="263"/>
        </pc:sldMkLst>
        <pc:spChg chg="mod">
          <ac:chgData name="Afeef M" userId="80bfc995f66ca10e" providerId="LiveId" clId="{2350AF49-A678-4AFA-9A6B-9BA2F7EDBF13}" dt="2026-04-04T06:09:31.609" v="14" actId="14100"/>
          <ac:spMkLst>
            <pc:docMk/>
            <pc:sldMk cId="0" sldId="263"/>
            <ac:spMk id="43" creationId="{00000000-0000-0000-0000-000000000000}"/>
          </ac:spMkLst>
        </pc:spChg>
      </pc:sldChg>
      <pc:sldChg chg="modSp mod">
        <pc:chgData name="Afeef M" userId="80bfc995f66ca10e" providerId="LiveId" clId="{2350AF49-A678-4AFA-9A6B-9BA2F7EDBF13}" dt="2026-04-04T06:09:11.255" v="13" actId="14100"/>
        <pc:sldMkLst>
          <pc:docMk/>
          <pc:sldMk cId="0" sldId="266"/>
        </pc:sldMkLst>
        <pc:spChg chg="mod">
          <ac:chgData name="Afeef M" userId="80bfc995f66ca10e" providerId="LiveId" clId="{2350AF49-A678-4AFA-9A6B-9BA2F7EDBF13}" dt="2026-04-04T06:09:11.255" v="13" actId="14100"/>
          <ac:spMkLst>
            <pc:docMk/>
            <pc:sldMk cId="0" sldId="266"/>
            <ac:spMk id="43" creationId="{00000000-0000-0000-0000-000000000000}"/>
          </ac:spMkLst>
        </pc:spChg>
        <pc:spChg chg="mod">
          <ac:chgData name="Afeef M" userId="80bfc995f66ca10e" providerId="LiveId" clId="{2350AF49-A678-4AFA-9A6B-9BA2F7EDBF13}" dt="2026-04-04T06:09:02.711" v="12" actId="14100"/>
          <ac:spMkLst>
            <pc:docMk/>
            <pc:sldMk cId="0" sldId="266"/>
            <ac:spMk id="4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665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79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241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1556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8229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14630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21031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33832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0233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46634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53035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9436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tab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417320" cy="307669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57200" y="1024128"/>
            <a:ext cx="2057400" cy="347472"/>
          </a:xfrm>
          <a:prstGeom prst="roundRect">
            <a:avLst/>
          </a:prstGeom>
          <a:solidFill>
            <a:srgbClr val="2A1611"/>
          </a:solidFill>
          <a:ln>
            <a:solidFill>
              <a:srgbClr val="FF9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10698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A73"/>
                </a:solidFill>
              </a:rPr>
              <a:t>AI RELIABILITY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444752"/>
            <a:ext cx="6309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4EF"/>
                </a:solidFill>
              </a:rPr>
              <a:t>STABLE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578608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1B2A4"/>
                </a:solidFill>
              </a:rPr>
              <a:t>Detect wrong, risky, and unreliable AI outputs before they reach users.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456432"/>
            <a:ext cx="11274552" cy="2670048"/>
          </a:xfrm>
          <a:prstGeom prst="roundRect">
            <a:avLst/>
          </a:prstGeom>
          <a:solidFill>
            <a:srgbClr val="111111"/>
          </a:solidFill>
          <a:ln>
            <a:solidFill>
              <a:srgbClr val="3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3657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4EF"/>
                </a:solidFill>
              </a:rPr>
              <a:t>Key Points</a:t>
            </a:r>
          </a:p>
        </p:txBody>
      </p:sp>
      <p:sp>
        <p:nvSpPr>
          <p:cNvPr id="36" name="Oval 35"/>
          <p:cNvSpPr/>
          <p:nvPr/>
        </p:nvSpPr>
        <p:spPr>
          <a:xfrm>
            <a:off x="749808" y="4023359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3968496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Reliability infrastructure for production AI systems</a:t>
            </a:r>
          </a:p>
        </p:txBody>
      </p:sp>
      <p:sp>
        <p:nvSpPr>
          <p:cNvPr id="38" name="Oval 37"/>
          <p:cNvSpPr/>
          <p:nvPr/>
        </p:nvSpPr>
        <p:spPr>
          <a:xfrm>
            <a:off x="749808" y="4443983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389120"/>
            <a:ext cx="996696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Highlights risky text, explains failures, and scores
output confidence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665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79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241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1556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8229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14630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21031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33832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0233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46634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53035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9436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tab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417320" cy="307669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57200" y="1024128"/>
            <a:ext cx="2057400" cy="347472"/>
          </a:xfrm>
          <a:prstGeom prst="roundRect">
            <a:avLst/>
          </a:prstGeom>
          <a:solidFill>
            <a:srgbClr val="2A1611"/>
          </a:solidFill>
          <a:ln>
            <a:solidFill>
              <a:srgbClr val="FF9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10698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A73"/>
                </a:solidFill>
              </a:rPr>
              <a:t>THE PROBLEM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444752"/>
            <a:ext cx="6309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4EF"/>
                </a:solidFill>
              </a:rPr>
              <a:t>AI is shipping faster than teams can trust 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578608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1B2A4"/>
                </a:solidFill>
              </a:rPr>
              <a:t>LLMs are moving into customer workflows, but failure modes remain invisible until they cause damage.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456432"/>
            <a:ext cx="11274552" cy="2670048"/>
          </a:xfrm>
          <a:prstGeom prst="roundRect">
            <a:avLst/>
          </a:prstGeom>
          <a:solidFill>
            <a:srgbClr val="111111"/>
          </a:solidFill>
          <a:ln>
            <a:solidFill>
              <a:srgbClr val="3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3657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4EF"/>
                </a:solidFill>
              </a:rPr>
              <a:t>Key Points</a:t>
            </a:r>
          </a:p>
        </p:txBody>
      </p:sp>
      <p:sp>
        <p:nvSpPr>
          <p:cNvPr id="36" name="Oval 35"/>
          <p:cNvSpPr/>
          <p:nvPr/>
        </p:nvSpPr>
        <p:spPr>
          <a:xfrm>
            <a:off x="749808" y="4023359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3968496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Hallucinated facts sound plausible</a:t>
            </a:r>
          </a:p>
        </p:txBody>
      </p:sp>
      <p:sp>
        <p:nvSpPr>
          <p:cNvPr id="38" name="Oval 37"/>
          <p:cNvSpPr/>
          <p:nvPr/>
        </p:nvSpPr>
        <p:spPr>
          <a:xfrm>
            <a:off x="749808" y="4443983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389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Unsafe advice can reach end users</a:t>
            </a:r>
          </a:p>
        </p:txBody>
      </p:sp>
      <p:sp>
        <p:nvSpPr>
          <p:cNvPr id="40" name="Oval 39"/>
          <p:cNvSpPr/>
          <p:nvPr/>
        </p:nvSpPr>
        <p:spPr>
          <a:xfrm>
            <a:off x="749808" y="4864607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996696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Wrong answers erode trust, increase legal risk, and
slow adoption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665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79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241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1556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8229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14630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21031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33832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0233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46634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53035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9436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tab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417320" cy="307669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57200" y="1024128"/>
            <a:ext cx="2057400" cy="347472"/>
          </a:xfrm>
          <a:prstGeom prst="roundRect">
            <a:avLst/>
          </a:prstGeom>
          <a:solidFill>
            <a:srgbClr val="2A1611"/>
          </a:solidFill>
          <a:ln>
            <a:solidFill>
              <a:srgbClr val="FF9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10698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A73"/>
                </a:solidFill>
              </a:rPr>
              <a:t>WHY NOW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444752"/>
            <a:ext cx="6309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4EF"/>
                </a:solidFill>
              </a:rPr>
              <a:t>The market has moved from model access to model trust.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578608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1B2A4"/>
                </a:solidFill>
              </a:rPr>
              <a:t>Every company is becoming an AI product company. Reliability is now the bottleneck to deployment.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456432"/>
            <a:ext cx="11274552" cy="2670048"/>
          </a:xfrm>
          <a:prstGeom prst="roundRect">
            <a:avLst/>
          </a:prstGeom>
          <a:solidFill>
            <a:srgbClr val="111111"/>
          </a:solidFill>
          <a:ln>
            <a:solidFill>
              <a:srgbClr val="3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3657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4EF"/>
                </a:solidFill>
              </a:rPr>
              <a:t>Key Points</a:t>
            </a:r>
          </a:p>
        </p:txBody>
      </p:sp>
      <p:sp>
        <p:nvSpPr>
          <p:cNvPr id="36" name="Oval 35"/>
          <p:cNvSpPr/>
          <p:nvPr/>
        </p:nvSpPr>
        <p:spPr>
          <a:xfrm>
            <a:off x="749808" y="4023359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3968496"/>
            <a:ext cx="996696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AI is entering support, operations, healthcare, legal,
and finance</a:t>
            </a:r>
          </a:p>
        </p:txBody>
      </p:sp>
      <p:sp>
        <p:nvSpPr>
          <p:cNvPr id="38" name="Oval 37"/>
          <p:cNvSpPr/>
          <p:nvPr/>
        </p:nvSpPr>
        <p:spPr>
          <a:xfrm>
            <a:off x="749808" y="4608575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553712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Enterprises now demand auditability and guardrails</a:t>
            </a:r>
          </a:p>
        </p:txBody>
      </p:sp>
      <p:sp>
        <p:nvSpPr>
          <p:cNvPr id="40" name="Oval 39"/>
          <p:cNvSpPr/>
          <p:nvPr/>
        </p:nvSpPr>
        <p:spPr>
          <a:xfrm>
            <a:off x="749808" y="5029199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4974336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Teams need infrastructure, not just prompts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665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79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241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1556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8229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14630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21031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33832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0233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46634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53035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9436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tab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417320" cy="307669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57200" y="1024128"/>
            <a:ext cx="2057400" cy="347472"/>
          </a:xfrm>
          <a:prstGeom prst="roundRect">
            <a:avLst/>
          </a:prstGeom>
          <a:solidFill>
            <a:srgbClr val="2A1611"/>
          </a:solidFill>
          <a:ln>
            <a:solidFill>
              <a:srgbClr val="FF9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10698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A73"/>
                </a:solidFill>
              </a:rPr>
              <a:t>OUR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444752"/>
            <a:ext cx="6309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4EF"/>
                </a:solidFill>
              </a:rPr>
              <a:t>STABLE is a reliability layer between model output and real-world use.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578608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1B2A4"/>
                </a:solidFill>
              </a:rPr>
              <a:t>We generate or ingest an AI response, then run a second-pass evaluator to detect risky or unreliable content.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456432"/>
            <a:ext cx="11274552" cy="2670048"/>
          </a:xfrm>
          <a:prstGeom prst="roundRect">
            <a:avLst/>
          </a:prstGeom>
          <a:solidFill>
            <a:srgbClr val="111111"/>
          </a:solidFill>
          <a:ln>
            <a:solidFill>
              <a:srgbClr val="3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3657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4EF"/>
                </a:solidFill>
              </a:rPr>
              <a:t>Key Points</a:t>
            </a:r>
          </a:p>
        </p:txBody>
      </p:sp>
      <p:sp>
        <p:nvSpPr>
          <p:cNvPr id="36" name="Oval 35"/>
          <p:cNvSpPr/>
          <p:nvPr/>
        </p:nvSpPr>
        <p:spPr>
          <a:xfrm>
            <a:off x="749808" y="4023359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3968496"/>
            <a:ext cx="996696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Flags hallucinations, unsafe output, weak factual
grounding, and misleading certainty</a:t>
            </a:r>
          </a:p>
        </p:txBody>
      </p:sp>
      <p:sp>
        <p:nvSpPr>
          <p:cNvPr id="38" name="Oval 37"/>
          <p:cNvSpPr/>
          <p:nvPr/>
        </p:nvSpPr>
        <p:spPr>
          <a:xfrm>
            <a:off x="749808" y="4608575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553712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Highlights the exact text that may be wrong</a:t>
            </a:r>
          </a:p>
        </p:txBody>
      </p:sp>
      <p:sp>
        <p:nvSpPr>
          <p:cNvPr id="40" name="Oval 39"/>
          <p:cNvSpPr/>
          <p:nvPr/>
        </p:nvSpPr>
        <p:spPr>
          <a:xfrm>
            <a:off x="749808" y="5029199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4974336"/>
            <a:ext cx="996696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Returns confidence score, risk level, and explanation
in structured 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665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79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241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1556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8229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14630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21031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33832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0233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46634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53035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9436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tab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417320" cy="307669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57200" y="1024128"/>
            <a:ext cx="2057400" cy="347472"/>
          </a:xfrm>
          <a:prstGeom prst="roundRect">
            <a:avLst/>
          </a:prstGeom>
          <a:solidFill>
            <a:srgbClr val="2A1611"/>
          </a:solidFill>
          <a:ln>
            <a:solidFill>
              <a:srgbClr val="FF9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10698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A73"/>
                </a:solidFill>
              </a:rPr>
              <a:t>PRODUCT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444752"/>
            <a:ext cx="6309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4EF"/>
                </a:solidFill>
              </a:rPr>
              <a:t>The product makes AI failure visible in seconds.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578608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1B2A4"/>
                </a:solidFill>
              </a:rPr>
              <a:t>Instead of pass or fail, STABLE shows exactly what broke and why.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401568"/>
            <a:ext cx="11274552" cy="2697480"/>
          </a:xfrm>
          <a:prstGeom prst="roundRect">
            <a:avLst/>
          </a:prstGeom>
          <a:solidFill>
            <a:srgbClr val="111111"/>
          </a:solidFill>
          <a:ln>
            <a:solidFill>
              <a:srgbClr val="3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product-snap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2342" y="3432800"/>
            <a:ext cx="5084457" cy="26629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665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79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241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1556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8229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14630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21031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33832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0233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46634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53035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9436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tab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417320" cy="307669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57200" y="1024128"/>
            <a:ext cx="2057400" cy="347472"/>
          </a:xfrm>
          <a:prstGeom prst="roundRect">
            <a:avLst/>
          </a:prstGeom>
          <a:solidFill>
            <a:srgbClr val="2A1611"/>
          </a:solidFill>
          <a:ln>
            <a:solidFill>
              <a:srgbClr val="FF9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10698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A73"/>
                </a:solidFill>
              </a:rPr>
              <a:t>WHAT WE DETECT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444752"/>
            <a:ext cx="6309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4EF"/>
                </a:solidFill>
              </a:rPr>
              <a:t>Failure modes we detect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578608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1B2A4"/>
                </a:solidFill>
              </a:rPr>
              <a:t>Built for the real behaviors that break trust in production AI.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456432"/>
            <a:ext cx="11274552" cy="3005582"/>
          </a:xfrm>
          <a:prstGeom prst="roundRect">
            <a:avLst/>
          </a:prstGeom>
          <a:solidFill>
            <a:srgbClr val="111111"/>
          </a:solidFill>
          <a:ln>
            <a:solidFill>
              <a:srgbClr val="3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3657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4EF"/>
                </a:solidFill>
              </a:rPr>
              <a:t>Key Points</a:t>
            </a:r>
          </a:p>
        </p:txBody>
      </p:sp>
      <p:sp>
        <p:nvSpPr>
          <p:cNvPr id="36" name="Oval 35"/>
          <p:cNvSpPr/>
          <p:nvPr/>
        </p:nvSpPr>
        <p:spPr>
          <a:xfrm>
            <a:off x="749808" y="4023359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3968496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Hallucinations</a:t>
            </a:r>
          </a:p>
        </p:txBody>
      </p:sp>
      <p:sp>
        <p:nvSpPr>
          <p:cNvPr id="38" name="Oval 37"/>
          <p:cNvSpPr/>
          <p:nvPr/>
        </p:nvSpPr>
        <p:spPr>
          <a:xfrm>
            <a:off x="749808" y="4443983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389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Incorrect facts</a:t>
            </a:r>
          </a:p>
        </p:txBody>
      </p:sp>
      <p:sp>
        <p:nvSpPr>
          <p:cNvPr id="40" name="Oval 39"/>
          <p:cNvSpPr/>
          <p:nvPr/>
        </p:nvSpPr>
        <p:spPr>
          <a:xfrm>
            <a:off x="749808" y="4864607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Unsafe outputs</a:t>
            </a:r>
          </a:p>
        </p:txBody>
      </p:sp>
      <p:sp>
        <p:nvSpPr>
          <p:cNvPr id="42" name="Oval 41"/>
          <p:cNvSpPr/>
          <p:nvPr/>
        </p:nvSpPr>
        <p:spPr>
          <a:xfrm>
            <a:off x="749808" y="5285231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230368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Inconsistent answers</a:t>
            </a:r>
          </a:p>
        </p:txBody>
      </p:sp>
      <p:sp>
        <p:nvSpPr>
          <p:cNvPr id="44" name="Oval 43"/>
          <p:cNvSpPr/>
          <p:nvPr/>
        </p:nvSpPr>
        <p:spPr>
          <a:xfrm>
            <a:off x="749808" y="5705855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4400" y="5650992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Low-confidence reasoning</a:t>
            </a:r>
          </a:p>
        </p:txBody>
      </p:sp>
      <p:sp>
        <p:nvSpPr>
          <p:cNvPr id="46" name="Oval 45"/>
          <p:cNvSpPr/>
          <p:nvPr/>
        </p:nvSpPr>
        <p:spPr>
          <a:xfrm>
            <a:off x="749808" y="6126479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4400" y="6071616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Weak or unverifiable claims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665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79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241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1556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8229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14630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21031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33832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0233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46634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53035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9436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tab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417320" cy="307669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57200" y="1024128"/>
            <a:ext cx="2057400" cy="347472"/>
          </a:xfrm>
          <a:prstGeom prst="roundRect">
            <a:avLst/>
          </a:prstGeom>
          <a:solidFill>
            <a:srgbClr val="2A1611"/>
          </a:solidFill>
          <a:ln>
            <a:solidFill>
              <a:srgbClr val="FF9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10698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A73"/>
                </a:solidFill>
              </a:rPr>
              <a:t>TRACTION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444752"/>
            <a:ext cx="6309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4EF"/>
                </a:solidFill>
              </a:rPr>
              <a:t>Early traction story: strong signal, fast demos, clear buyer pain.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578608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1B2A4"/>
                </a:solidFill>
              </a:rPr>
              <a:t>This is still early, but the product already demonstrates a visible and urgent category need.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310128"/>
            <a:ext cx="3730752" cy="969264"/>
          </a:xfrm>
          <a:prstGeom prst="roundRect">
            <a:avLst/>
          </a:prstGeom>
          <a:solidFill>
            <a:srgbClr val="191312"/>
          </a:solidFill>
          <a:ln>
            <a:solidFill>
              <a:srgbClr val="FF9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3504" y="349300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A73"/>
                </a:solidFill>
              </a:rPr>
              <a:t>Demo-ready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3767328"/>
            <a:ext cx="3456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4EF"/>
                </a:solidFill>
              </a:rPr>
              <a:t>Investor and customer presentation quality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3310128"/>
            <a:ext cx="3730752" cy="969264"/>
          </a:xfrm>
          <a:prstGeom prst="roundRect">
            <a:avLst/>
          </a:prstGeom>
          <a:solidFill>
            <a:srgbClr val="191312"/>
          </a:solidFill>
          <a:ln>
            <a:solidFill>
              <a:srgbClr val="FF9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43984" y="349300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A73"/>
                </a:solidFill>
              </a:rPr>
              <a:t>2-pass engine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3984" y="3767328"/>
            <a:ext cx="3456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4EF"/>
                </a:solidFill>
              </a:rPr>
              <a:t>Generation plus evaluator architecture live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3310128"/>
            <a:ext cx="3730752" cy="969264"/>
          </a:xfrm>
          <a:prstGeom prst="roundRect">
            <a:avLst/>
          </a:prstGeom>
          <a:solidFill>
            <a:srgbClr val="191312"/>
          </a:solidFill>
          <a:ln>
            <a:solidFill>
              <a:srgbClr val="FF9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84464" y="349300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A73"/>
                </a:solidFill>
              </a:rPr>
              <a:t>Clear wedge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4464" y="3767328"/>
            <a:ext cx="3456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4EF"/>
                </a:solidFill>
              </a:rPr>
              <a:t>AI startups and enterprise copilots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443983"/>
            <a:ext cx="11274552" cy="2139697"/>
          </a:xfrm>
          <a:prstGeom prst="roundRect">
            <a:avLst/>
          </a:prstGeom>
          <a:solidFill>
            <a:srgbClr val="111111"/>
          </a:solidFill>
          <a:ln>
            <a:solidFill>
              <a:srgbClr val="3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3232" y="464515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4EF"/>
                </a:solidFill>
              </a:rPr>
              <a:t>Key Points</a:t>
            </a:r>
          </a:p>
        </p:txBody>
      </p:sp>
      <p:sp>
        <p:nvSpPr>
          <p:cNvPr id="45" name="Oval 44"/>
          <p:cNvSpPr/>
          <p:nvPr/>
        </p:nvSpPr>
        <p:spPr>
          <a:xfrm>
            <a:off x="749808" y="5010912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400" y="4956048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Live interactive demo built and deployable on Vercel</a:t>
            </a:r>
          </a:p>
        </p:txBody>
      </p:sp>
      <p:sp>
        <p:nvSpPr>
          <p:cNvPr id="47" name="Oval 46"/>
          <p:cNvSpPr/>
          <p:nvPr/>
        </p:nvSpPr>
        <p:spPr>
          <a:xfrm>
            <a:off x="749808" y="5431536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" y="5376672"/>
            <a:ext cx="996696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Core reliability pipeline running through OpenRouter
with second-pass analysis</a:t>
            </a:r>
          </a:p>
        </p:txBody>
      </p:sp>
      <p:sp>
        <p:nvSpPr>
          <p:cNvPr id="49" name="Oval 48"/>
          <p:cNvSpPr/>
          <p:nvPr/>
        </p:nvSpPr>
        <p:spPr>
          <a:xfrm>
            <a:off x="749808" y="6016751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4400" y="5961888"/>
            <a:ext cx="996696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Design and workflow already strong enough for pilots,
investor meetings, and customer discovery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665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79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241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1556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8229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14630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21031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33832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0233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46634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53035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9436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tab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417320" cy="307669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57200" y="1024128"/>
            <a:ext cx="2057400" cy="347472"/>
          </a:xfrm>
          <a:prstGeom prst="roundRect">
            <a:avLst/>
          </a:prstGeom>
          <a:solidFill>
            <a:srgbClr val="2A1611"/>
          </a:solidFill>
          <a:ln>
            <a:solidFill>
              <a:srgbClr val="FF9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10698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A73"/>
                </a:solidFill>
              </a:rPr>
              <a:t>MARKET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444752"/>
            <a:ext cx="6309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4EF"/>
                </a:solidFill>
              </a:rPr>
              <a:t>A growing reliability layer inside the AI stack.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578608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1B2A4"/>
                </a:solidFill>
              </a:rPr>
              <a:t>As LLM usage expands, every serious deployment needs trust, visibility, and control.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310128"/>
            <a:ext cx="3730752" cy="969264"/>
          </a:xfrm>
          <a:prstGeom prst="roundRect">
            <a:avLst/>
          </a:prstGeom>
          <a:solidFill>
            <a:srgbClr val="191312"/>
          </a:solidFill>
          <a:ln>
            <a:solidFill>
              <a:srgbClr val="FF9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3504" y="349300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A73"/>
                </a:solidFill>
              </a:rPr>
              <a:t>Category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3767328"/>
            <a:ext cx="3456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4EF"/>
                </a:solidFill>
              </a:rPr>
              <a:t>AI evals, observability, guardrails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3310128"/>
            <a:ext cx="3730752" cy="969264"/>
          </a:xfrm>
          <a:prstGeom prst="roundRect">
            <a:avLst/>
          </a:prstGeom>
          <a:solidFill>
            <a:srgbClr val="191312"/>
          </a:solidFill>
          <a:ln>
            <a:solidFill>
              <a:srgbClr val="FF9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43984" y="349300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A73"/>
                </a:solidFill>
              </a:rPr>
              <a:t>Buyer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3984" y="3767328"/>
            <a:ext cx="3456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4EF"/>
                </a:solidFill>
              </a:rPr>
              <a:t>CTO, Head of AI, Product, Risk, Compliance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3310128"/>
            <a:ext cx="3730752" cy="969264"/>
          </a:xfrm>
          <a:prstGeom prst="roundRect">
            <a:avLst/>
          </a:prstGeom>
          <a:solidFill>
            <a:srgbClr val="191312"/>
          </a:solidFill>
          <a:ln>
            <a:solidFill>
              <a:srgbClr val="FF9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84464" y="349300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A73"/>
                </a:solidFill>
              </a:rPr>
              <a:t>Why now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4464" y="3767328"/>
            <a:ext cx="3456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4EF"/>
                </a:solidFill>
              </a:rPr>
              <a:t>Trust is the bottleneck to production AI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443984"/>
            <a:ext cx="11274552" cy="2231136"/>
          </a:xfrm>
          <a:prstGeom prst="roundRect">
            <a:avLst/>
          </a:prstGeom>
          <a:solidFill>
            <a:srgbClr val="111111"/>
          </a:solidFill>
          <a:ln>
            <a:solidFill>
              <a:srgbClr val="3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3232" y="464515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4EF"/>
                </a:solidFill>
              </a:rPr>
              <a:t>Key Points</a:t>
            </a:r>
          </a:p>
        </p:txBody>
      </p:sp>
      <p:sp>
        <p:nvSpPr>
          <p:cNvPr id="45" name="Oval 44"/>
          <p:cNvSpPr/>
          <p:nvPr/>
        </p:nvSpPr>
        <p:spPr>
          <a:xfrm>
            <a:off x="749808" y="5010912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400" y="4956048"/>
            <a:ext cx="996696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TAM: global AI software and infrastructure budgets
expanding rapidly</a:t>
            </a:r>
          </a:p>
        </p:txBody>
      </p:sp>
      <p:sp>
        <p:nvSpPr>
          <p:cNvPr id="47" name="Oval 46"/>
          <p:cNvSpPr/>
          <p:nvPr/>
        </p:nvSpPr>
        <p:spPr>
          <a:xfrm>
            <a:off x="749808" y="5596127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" y="5541264"/>
            <a:ext cx="996696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SAM: teams deploying copilots, agents, and workflow
automation with external-facing risk</a:t>
            </a:r>
          </a:p>
        </p:txBody>
      </p:sp>
      <p:sp>
        <p:nvSpPr>
          <p:cNvPr id="49" name="Oval 48"/>
          <p:cNvSpPr/>
          <p:nvPr/>
        </p:nvSpPr>
        <p:spPr>
          <a:xfrm>
            <a:off x="749808" y="6181343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4400" y="6126479"/>
            <a:ext cx="996696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4EF"/>
                </a:solidFill>
              </a:rPr>
              <a:t>SOM: early wedge in startups and mid-market teams
adopting AI into operations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665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79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241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1556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8229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14630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21031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33832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0233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46634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53035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9436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tab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417320" cy="307669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57200" y="1024128"/>
            <a:ext cx="2057400" cy="347472"/>
          </a:xfrm>
          <a:prstGeom prst="roundRect">
            <a:avLst/>
          </a:prstGeom>
          <a:solidFill>
            <a:srgbClr val="2A1611"/>
          </a:solidFill>
          <a:ln>
            <a:solidFill>
              <a:srgbClr val="FF9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10698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A73"/>
                </a:solidFill>
              </a:rPr>
              <a:t>CUSTOMERS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444752"/>
            <a:ext cx="6309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4EF"/>
                </a:solidFill>
              </a:rPr>
              <a:t>Initial wedge: teams already shipping AI into real workflows.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578608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1B2A4"/>
                </a:solidFill>
              </a:rPr>
              <a:t>If an AI response reaches a user, that product needs a trust layer.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456432"/>
            <a:ext cx="11274552" cy="2670048"/>
          </a:xfrm>
          <a:prstGeom prst="roundRect">
            <a:avLst/>
          </a:prstGeom>
          <a:solidFill>
            <a:srgbClr val="111111"/>
          </a:solidFill>
          <a:ln>
            <a:solidFill>
              <a:srgbClr val="3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3657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4EF"/>
                </a:solidFill>
              </a:rPr>
              <a:t>Key Points</a:t>
            </a:r>
          </a:p>
        </p:txBody>
      </p:sp>
      <p:sp>
        <p:nvSpPr>
          <p:cNvPr id="36" name="Oval 35"/>
          <p:cNvSpPr/>
          <p:nvPr/>
        </p:nvSpPr>
        <p:spPr>
          <a:xfrm>
            <a:off x="749808" y="4023359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3968496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AI startups and agent builders</a:t>
            </a:r>
          </a:p>
        </p:txBody>
      </p:sp>
      <p:sp>
        <p:nvSpPr>
          <p:cNvPr id="38" name="Oval 37"/>
          <p:cNvSpPr/>
          <p:nvPr/>
        </p:nvSpPr>
        <p:spPr>
          <a:xfrm>
            <a:off x="749808" y="4443983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389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Enterprise copilots and support automation platforms</a:t>
            </a:r>
          </a:p>
        </p:txBody>
      </p:sp>
      <p:sp>
        <p:nvSpPr>
          <p:cNvPr id="40" name="Oval 39"/>
          <p:cNvSpPr/>
          <p:nvPr/>
        </p:nvSpPr>
        <p:spPr>
          <a:xfrm>
            <a:off x="749808" y="4864607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996696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Healthcare, legal, fintech, and compliance-heavy AI
products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665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79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241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1556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8229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14630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21031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33832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0233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46634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53035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9436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tab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417320" cy="307669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57200" y="1024128"/>
            <a:ext cx="2057400" cy="347472"/>
          </a:xfrm>
          <a:prstGeom prst="roundRect">
            <a:avLst/>
          </a:prstGeom>
          <a:solidFill>
            <a:srgbClr val="2A1611"/>
          </a:solidFill>
          <a:ln>
            <a:solidFill>
              <a:srgbClr val="FF9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10698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A73"/>
                </a:solidFill>
              </a:rPr>
              <a:t>BUSINESS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444752"/>
            <a:ext cx="6309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4EF"/>
                </a:solidFill>
              </a:rPr>
              <a:t>Infrastructure economics with recurring expansion paths.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578608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1B2A4"/>
                </a:solidFill>
              </a:rPr>
              <a:t>STABLE can monetize as a SaaS plus usage-based reliability platform.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456432"/>
            <a:ext cx="11274552" cy="2670048"/>
          </a:xfrm>
          <a:prstGeom prst="roundRect">
            <a:avLst/>
          </a:prstGeom>
          <a:solidFill>
            <a:srgbClr val="111111"/>
          </a:solidFill>
          <a:ln>
            <a:solidFill>
              <a:srgbClr val="3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3657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4EF"/>
                </a:solidFill>
              </a:rPr>
              <a:t>Key Points</a:t>
            </a:r>
          </a:p>
        </p:txBody>
      </p:sp>
      <p:sp>
        <p:nvSpPr>
          <p:cNvPr id="36" name="Oval 35"/>
          <p:cNvSpPr/>
          <p:nvPr/>
        </p:nvSpPr>
        <p:spPr>
          <a:xfrm>
            <a:off x="749808" y="4023359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3968496"/>
            <a:ext cx="996696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Subscription plus metered pricing per response
analyzed</a:t>
            </a:r>
          </a:p>
        </p:txBody>
      </p:sp>
      <p:sp>
        <p:nvSpPr>
          <p:cNvPr id="38" name="Oval 37"/>
          <p:cNvSpPr/>
          <p:nvPr/>
        </p:nvSpPr>
        <p:spPr>
          <a:xfrm>
            <a:off x="749808" y="4608575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553712"/>
            <a:ext cx="996696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Enterprise tiers for dashboards, alerts, policy
customization, and audit logs</a:t>
            </a:r>
          </a:p>
        </p:txBody>
      </p:sp>
      <p:sp>
        <p:nvSpPr>
          <p:cNvPr id="40" name="Oval 39"/>
          <p:cNvSpPr/>
          <p:nvPr/>
        </p:nvSpPr>
        <p:spPr>
          <a:xfrm>
            <a:off x="749808" y="5193791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5138927"/>
            <a:ext cx="996696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Expansion through monitoring, eval pipelines, and
deployment gating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665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79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241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1556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8229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14630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21031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33832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0233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46634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53035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9436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tab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417320" cy="307669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57200" y="1024128"/>
            <a:ext cx="2057400" cy="347472"/>
          </a:xfrm>
          <a:prstGeom prst="roundRect">
            <a:avLst/>
          </a:prstGeom>
          <a:solidFill>
            <a:srgbClr val="2A1611"/>
          </a:solidFill>
          <a:ln>
            <a:solidFill>
              <a:srgbClr val="FF9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10698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A73"/>
                </a:solidFill>
              </a:rPr>
              <a:t>TEAM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444752"/>
            <a:ext cx="6309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4EF"/>
                </a:solidFill>
              </a:rPr>
              <a:t>Lean team, sharp problem focus, product-first execution.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578608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1B2A4"/>
                </a:solidFill>
              </a:rPr>
              <a:t>The founding advantage is speed: turning a painful and visible AI problem into usable infrastructure fast.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310128"/>
            <a:ext cx="3730752" cy="969264"/>
          </a:xfrm>
          <a:prstGeom prst="roundRect">
            <a:avLst/>
          </a:prstGeom>
          <a:solidFill>
            <a:srgbClr val="191312"/>
          </a:solidFill>
          <a:ln>
            <a:solidFill>
              <a:srgbClr val="FF9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3504" y="349300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A73"/>
                </a:solidFill>
              </a:rPr>
              <a:t>Founder DNA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3767328"/>
            <a:ext cx="3456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4EF"/>
                </a:solidFill>
              </a:rPr>
              <a:t>Product + engineering + execution velocity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3310128"/>
            <a:ext cx="3730752" cy="969264"/>
          </a:xfrm>
          <a:prstGeom prst="roundRect">
            <a:avLst/>
          </a:prstGeom>
          <a:solidFill>
            <a:srgbClr val="191312"/>
          </a:solidFill>
          <a:ln>
            <a:solidFill>
              <a:srgbClr val="FF9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43984" y="349300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A73"/>
                </a:solidFill>
              </a:rPr>
              <a:t>Next hires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3984" y="3767328"/>
            <a:ext cx="3456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4EF"/>
                </a:solidFill>
              </a:rPr>
              <a:t>Reliability engineer, frontend/product design, GTM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3310128"/>
            <a:ext cx="3730752" cy="969264"/>
          </a:xfrm>
          <a:prstGeom prst="roundRect">
            <a:avLst/>
          </a:prstGeom>
          <a:solidFill>
            <a:srgbClr val="191312"/>
          </a:solidFill>
          <a:ln>
            <a:solidFill>
              <a:srgbClr val="FF9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84464" y="349300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A73"/>
                </a:solidFill>
              </a:rPr>
              <a:t>Operating style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4464" y="3767328"/>
            <a:ext cx="3456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4EF"/>
                </a:solidFill>
              </a:rPr>
              <a:t>Fast iteration with enterprise positioning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443984"/>
            <a:ext cx="11274552" cy="2041904"/>
          </a:xfrm>
          <a:prstGeom prst="roundRect">
            <a:avLst/>
          </a:prstGeom>
          <a:solidFill>
            <a:srgbClr val="111111"/>
          </a:solidFill>
          <a:ln>
            <a:solidFill>
              <a:srgbClr val="3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3232" y="464515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4EF"/>
                </a:solidFill>
              </a:rPr>
              <a:t>Key Points</a:t>
            </a:r>
          </a:p>
        </p:txBody>
      </p:sp>
      <p:sp>
        <p:nvSpPr>
          <p:cNvPr id="45" name="Oval 44"/>
          <p:cNvSpPr/>
          <p:nvPr/>
        </p:nvSpPr>
        <p:spPr>
          <a:xfrm>
            <a:off x="749808" y="5010912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400" y="4956048"/>
            <a:ext cx="9509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4EF"/>
                </a:solidFill>
              </a:rPr>
              <a:t>Founder-led product and engineering execution</a:t>
            </a:r>
          </a:p>
        </p:txBody>
      </p:sp>
      <p:sp>
        <p:nvSpPr>
          <p:cNvPr id="47" name="Oval 46"/>
          <p:cNvSpPr/>
          <p:nvPr/>
        </p:nvSpPr>
        <p:spPr>
          <a:xfrm>
            <a:off x="749808" y="5431536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" y="5376672"/>
            <a:ext cx="996696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Focus on design-forward infrastructure that demos well
and solves real risk</a:t>
            </a:r>
          </a:p>
        </p:txBody>
      </p:sp>
      <p:sp>
        <p:nvSpPr>
          <p:cNvPr id="49" name="Oval 48"/>
          <p:cNvSpPr/>
          <p:nvPr/>
        </p:nvSpPr>
        <p:spPr>
          <a:xfrm>
            <a:off x="749808" y="6016751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4400" y="5961888"/>
            <a:ext cx="996696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4EF"/>
                </a:solidFill>
              </a:rPr>
              <a:t>Next hires: full-stack engineering, AI evals, and
enterprise GTM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665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79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241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1556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8229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14630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21031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33832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0233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46634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53035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9436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tab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417320" cy="307669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57200" y="1024128"/>
            <a:ext cx="2057400" cy="347472"/>
          </a:xfrm>
          <a:prstGeom prst="roundRect">
            <a:avLst/>
          </a:prstGeom>
          <a:solidFill>
            <a:srgbClr val="2A1611"/>
          </a:solidFill>
          <a:ln>
            <a:solidFill>
              <a:srgbClr val="FF9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10698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A73"/>
                </a:solidFill>
              </a:rPr>
              <a:t>WHY WE WIN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444752"/>
            <a:ext cx="6309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4EF"/>
                </a:solidFill>
              </a:rPr>
              <a:t>We are not another model. We are the trust layer.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578608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1B2A4"/>
                </a:solidFill>
              </a:rPr>
              <a:t>STABLE sits in the reliability layer of the AI stack, where urgency and value both compound.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456432"/>
            <a:ext cx="11274552" cy="2670048"/>
          </a:xfrm>
          <a:prstGeom prst="roundRect">
            <a:avLst/>
          </a:prstGeom>
          <a:solidFill>
            <a:srgbClr val="111111"/>
          </a:solidFill>
          <a:ln>
            <a:solidFill>
              <a:srgbClr val="3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3657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4EF"/>
                </a:solidFill>
              </a:rPr>
              <a:t>Key Points</a:t>
            </a:r>
          </a:p>
        </p:txBody>
      </p:sp>
      <p:sp>
        <p:nvSpPr>
          <p:cNvPr id="36" name="Oval 35"/>
          <p:cNvSpPr/>
          <p:nvPr/>
        </p:nvSpPr>
        <p:spPr>
          <a:xfrm>
            <a:off x="749808" y="4023359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3968496"/>
            <a:ext cx="996696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Clear pain with visible ROI: reduce brand risk and
ship faster</a:t>
            </a:r>
          </a:p>
        </p:txBody>
      </p:sp>
      <p:sp>
        <p:nvSpPr>
          <p:cNvPr id="38" name="Oval 37"/>
          <p:cNvSpPr/>
          <p:nvPr/>
        </p:nvSpPr>
        <p:spPr>
          <a:xfrm>
            <a:off x="749808" y="4608575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553712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Product value is instantly understandable in demos</a:t>
            </a:r>
          </a:p>
        </p:txBody>
      </p:sp>
      <p:sp>
        <p:nvSpPr>
          <p:cNvPr id="40" name="Oval 39"/>
          <p:cNvSpPr/>
          <p:nvPr/>
        </p:nvSpPr>
        <p:spPr>
          <a:xfrm>
            <a:off x="749808" y="5029199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4974336"/>
            <a:ext cx="996696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Positioned as AI observability plus QA plus
reliability infrastructure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774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665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79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6112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2416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155680" y="0"/>
            <a:ext cx="635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8229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14630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21031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33832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02336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466344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530352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94360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9169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tab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417320" cy="307669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57200" y="1024128"/>
            <a:ext cx="2057400" cy="347472"/>
          </a:xfrm>
          <a:prstGeom prst="roundRect">
            <a:avLst/>
          </a:prstGeom>
          <a:solidFill>
            <a:srgbClr val="2A1611"/>
          </a:solidFill>
          <a:ln>
            <a:solidFill>
              <a:srgbClr val="FF9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10698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A73"/>
                </a:solidFill>
              </a:rPr>
              <a:t>THE ASK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444752"/>
            <a:ext cx="6309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4EF"/>
                </a:solidFill>
              </a:rPr>
              <a:t>We are building the system companies use to trust AI in production.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578608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1B2A4"/>
                </a:solidFill>
              </a:rPr>
              <a:t>Funding accelerates product depth, enterprise readiness, and pilot customer growth.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456432"/>
            <a:ext cx="11274552" cy="2670048"/>
          </a:xfrm>
          <a:prstGeom prst="roundRect">
            <a:avLst/>
          </a:prstGeom>
          <a:solidFill>
            <a:srgbClr val="111111"/>
          </a:solidFill>
          <a:ln>
            <a:solidFill>
              <a:srgbClr val="3A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3657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4EF"/>
                </a:solidFill>
              </a:rPr>
              <a:t>Key Points</a:t>
            </a:r>
          </a:p>
        </p:txBody>
      </p:sp>
      <p:sp>
        <p:nvSpPr>
          <p:cNvPr id="36" name="Oval 35"/>
          <p:cNvSpPr/>
          <p:nvPr/>
        </p:nvSpPr>
        <p:spPr>
          <a:xfrm>
            <a:off x="749808" y="4023359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3968496"/>
            <a:ext cx="996696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Use of funds: product, engineering, reliability
engine, and GTM</a:t>
            </a:r>
          </a:p>
        </p:txBody>
      </p:sp>
      <p:sp>
        <p:nvSpPr>
          <p:cNvPr id="38" name="Oval 37"/>
          <p:cNvSpPr/>
          <p:nvPr/>
        </p:nvSpPr>
        <p:spPr>
          <a:xfrm>
            <a:off x="749808" y="4608575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553712"/>
            <a:ext cx="996696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Goal: become the default checkpoint before AI reaches
users</a:t>
            </a:r>
          </a:p>
        </p:txBody>
      </p:sp>
      <p:sp>
        <p:nvSpPr>
          <p:cNvPr id="40" name="Oval 39"/>
          <p:cNvSpPr/>
          <p:nvPr/>
        </p:nvSpPr>
        <p:spPr>
          <a:xfrm>
            <a:off x="749808" y="5193791"/>
            <a:ext cx="73152" cy="73152"/>
          </a:xfrm>
          <a:prstGeom prst="ellipse">
            <a:avLst/>
          </a:prstGeom>
          <a:solidFill>
            <a:srgbClr val="FF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5138927"/>
            <a:ext cx="996696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4EF"/>
                </a:solidFill>
              </a:rPr>
              <a:t>Closing line: Before AI reaches users, it should pass
through STABLE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791</Words>
  <Application>Microsoft Office PowerPoint</Application>
  <PresentationFormat>Widescreen</PresentationFormat>
  <Paragraphs>107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Afeef M</cp:lastModifiedBy>
  <cp:revision>1</cp:revision>
  <dcterms:created xsi:type="dcterms:W3CDTF">2013-01-27T09:14:16Z</dcterms:created>
  <dcterms:modified xsi:type="dcterms:W3CDTF">2026-04-04T06:10:02Z</dcterms:modified>
  <cp:category/>
</cp:coreProperties>
</file>